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Coeficiente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B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Affiliate
Marketing</c:v>
                  </c:pt>
                  <c:pt idx="1">
                    <c:v>Call
Center</c:v>
                  </c:pt>
                  <c:pt idx="2">
                    <c:v>Meta
Ads</c:v>
                  </c:pt>
                  <c:pt idx="3">
                    <c:v>Email
Marketing</c:v>
                  </c:pt>
                  <c:pt idx="4">
                    <c:v>Paid Search
(Google)</c:v>
                  </c:pt>
                  <c:pt idx="5">
                    <c:v>YouTube
Ads</c:v>
                  </c:pt>
                  <c:pt idx="6">
                    <c:v>E-commerce
Site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16033.5</c:v>
                </c:pt>
                <c:pt idx="1">
                  <c:v>9837.91</c:v>
                </c:pt>
                <c:pt idx="2">
                  <c:v>8278.92</c:v>
                </c:pt>
                <c:pt idx="3">
                  <c:v>6945.11</c:v>
                </c:pt>
                <c:pt idx="4">
                  <c:v>6497.78</c:v>
                </c:pt>
                <c:pt idx="5">
                  <c:v>4826.57</c:v>
                </c:pt>
                <c:pt idx="6">
                  <c:v>4778.68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B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CPA implícito (MMM)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R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B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Paid Search
(Google)</c:v>
                  </c:pt>
                  <c:pt idx="1">
                    <c:v>Meta
Ads</c:v>
                  </c:pt>
                  <c:pt idx="2">
                    <c:v>YouTube
Ads</c:v>
                  </c:pt>
                  <c:pt idx="3">
                    <c:v>Affiliate
Marketing</c:v>
                  </c:pt>
                  <c:pt idx="4">
                    <c:v>Email
Marketing</c:v>
                  </c:pt>
                  <c:pt idx="5">
                    <c:v>E-commerce
Site</c:v>
                  </c:pt>
                  <c:pt idx="6">
                    <c:v>Call
Center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88.48</c:v>
                </c:pt>
                <c:pt idx="1">
                  <c:v>57.05</c:v>
                </c:pt>
                <c:pt idx="2">
                  <c:v>53.96</c:v>
                </c:pt>
                <c:pt idx="3">
                  <c:v>21.58</c:v>
                </c:pt>
                <c:pt idx="4">
                  <c:v>18.71</c:v>
                </c:pt>
                <c:pt idx="5">
                  <c:v>28.32</c:v>
                </c:pt>
                <c:pt idx="6">
                  <c:v>18.71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CPA assumido (planilha)</c:v>
                </c:pt>
              </c:strCache>
            </c:strRef>
          </c:tx>
          <c:spPr>
            <a:solidFill>
              <a:srgbClr val="C9C9D2"/>
            </a:solidFill>
            <a:effectLst/>
          </c:spPr>
          <c:invertIfNegative val="0"/>
          <c:dLbls>
            <c:numFmt formatCode="R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B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Paid Search
(Google)</c:v>
                  </c:pt>
                  <c:pt idx="1">
                    <c:v>Meta
Ads</c:v>
                  </c:pt>
                  <c:pt idx="2">
                    <c:v>YouTube
Ads</c:v>
                  </c:pt>
                  <c:pt idx="3">
                    <c:v>Affiliate
Marketing</c:v>
                  </c:pt>
                  <c:pt idx="4">
                    <c:v>Email
Marketing</c:v>
                  </c:pt>
                  <c:pt idx="5">
                    <c:v>E-commerce
Site</c:v>
                  </c:pt>
                  <c:pt idx="6">
                    <c:v>Call
Center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45</c:v>
                </c:pt>
                <c:pt idx="1">
                  <c:v>70</c:v>
                </c:pt>
                <c:pt idx="2">
                  <c:v>70</c:v>
                </c:pt>
                <c:pt idx="3">
                  <c:v>25</c:v>
                </c:pt>
                <c:pt idx="4">
                  <c:v>30</c:v>
                </c:pt>
                <c:pt idx="5">
                  <c:v>70</c:v>
                </c:pt>
                <c:pt idx="6">
                  <c:v>40</c:v>
                </c:pt>
              </c:numCache>
            </c:numRef>
          </c:val>
        </c:ser>
        <c:dLbls>
          <c:numFmt formatCode="R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1B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B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(x)</c:v>
                </c:pt>
              </c:strCache>
            </c:strRef>
          </c:tx>
          <c:spPr>
            <a:solidFill>
              <a:srgbClr val="1E8F5F">
                <a:alpha val="100000"/>
              </a:srgbClr>
            </a:solidFill>
            <a:effectLst/>
          </c:spPr>
          <c:invertIfNegative val="0"/>
          <c:dLbls>
            <c:numFmt formatCode="0.00&quot;x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F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F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F5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8F5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86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3B2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23B2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Familias
Tradicionais</c:v>
                  </c:pt>
                  <c:pt idx="1">
                    <c:v>Fas de Artes
Marciais</c:v>
                  </c:pt>
                  <c:pt idx="2">
                    <c:v>Maratonistas
Series</c:v>
                  </c:pt>
                  <c:pt idx="3">
                    <c:v>Torcedores
Fanaticos</c:v>
                  </c:pt>
                  <c:pt idx="4">
                    <c:v>Pais de Crianças
Pequenas</c:v>
                  </c:pt>
                  <c:pt idx="5">
                    <c:v>Amantes de
Música</c:v>
                  </c:pt>
                  <c:pt idx="6">
                    <c:v>Amantes de
Cinema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2.97</c:v>
                </c:pt>
                <c:pt idx="1">
                  <c:v>1.7</c:v>
                </c:pt>
                <c:pt idx="2">
                  <c:v>1.64</c:v>
                </c:pt>
                <c:pt idx="3">
                  <c:v>1.32</c:v>
                </c:pt>
                <c:pt idx="4">
                  <c:v>0.31</c:v>
                </c:pt>
                <c:pt idx="5">
                  <c:v>-0.1</c:v>
                </c:pt>
                <c:pt idx="6">
                  <c:v>-0.41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B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MIX MODELING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Achados do Modelo MMM — Video+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de assinantes por canal, eficiência de CAC/CLV e validação estatística do modelo v2 (Hill Saturation + HAC)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E40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062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por: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Marketing Scientist, Video+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dados analisada: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jan/2023 – dez/2024 (104 semanas) · ano-base do relatório: 2024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 apresentação: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de agosto de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de transparência sobre o escopo dos dados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dos resultados: o que este modelo cobre — e o que não cobre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Jan/2023 a Dez/2024 (104 semanas)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planilha contém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MMM_Synth_Weekly_Data cobre 104 semanas, de 02/jan/2023 a 23/dez/2024.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achados desta apresentação — coeficientes, CPA implícito, ROI por segmento e comparação anual — referem-se a essa janela, com 2024 como o ano mais recente completo na base.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1B1B22"/>
          </a:solidFill>
          <a:ln w="12700">
            <a:solidFill>
              <a:srgbClr val="1B1B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sintético, não real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aba de metodologia declara: os 104 pontos semanais são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sintéticos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gerados por um processo conhecido (adstock geométrico + saturação + sazonalidade + ruído) calibrado pelos CPAs-alvo já existentes na planilha de canais — não refletem tráfego, spend ou assinaturas reais do Video+.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43434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D9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desta apresentação está na metodologia estatística (como o modelo foi validado) — não nos números de negócio em si, que precisam ser recalculados com spend real assim que disponível.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Escopo e limitações dos dados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v2 — como o modelo foi construído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pilares estatísticos, no padrão usado por Meta Robyn e Google LightweightMMM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saturação flexível (Hill)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299008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canal responde ao investimento via saturação de Hill, com gamma (formato da curva: convexa, côncava ou sigmoide) e kappa (ponto de meia-saturação) otimizados individualmente por canal.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3984" y="187452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2103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718304" y="2880360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out-of-sample (holdout temporal)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18304" y="3703320"/>
            <a:ext cx="299008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parâmetros de adstock e Hill são escolhidos apenas nas 80 primeiras semanas; as últimas 24 semanas nunca influenciam o ajuste — servem só para medir se o modelo generaliza bem.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47888" y="187452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21031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522208" y="2880360"/>
            <a:ext cx="2990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Erro-padrão robusto (HAC / Newey-West)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522208" y="3703320"/>
            <a:ext cx="299008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final é reajustado com erro-padrão HAC (4 lags), que corrige p-valores para autocorrelação e heterocedasticidade — mais realista para dados de série temporal.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prático: os 7 canais pagos são estatisticamente significativos a 5%, com VIF de mídia abaixo de 2 na maioria dos canais — baixa multicolinearidade e coeficientes confiáveis.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Metodologia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ajuste e validação do modelo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semanas · treino nas semanas 1–80 · holdout nunca visto nas semanas 81–104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(ajuste completo)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semanas de treino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43984" y="182880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205740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72584" y="306324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ajustado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72584" y="342900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nº de variáveis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47888" y="182880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6488" y="205740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97.4%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76488" y="306324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out-of-sample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76488" y="342900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semanas nunca vistas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8056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1,14%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68680" y="548640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no holdout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85216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absoluto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43984" y="425196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448056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672584" y="548640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Durbin–Watson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72584" y="585216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 via HAC (4 lags)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47888" y="425196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76488" y="4480560"/>
            <a:ext cx="3081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±431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476488" y="548640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(assinantes/sem.)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76488" y="585216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típico de previsão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Performance estatística do modelo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7 canais pagos são estatisticamente significativos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regressão por canal (efeito marginal sobre novos assinantes/semana, unidades pós-transformação de Hill) — p &lt; 0,05 em todos os 7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600200"/>
            <a:ext cx="2926080" cy="4480560"/>
          </a:xfrm>
          <a:prstGeom prst="roundRect">
            <a:avLst>
              <a:gd name="adj" fmla="val 2500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69680" y="2148840"/>
            <a:ext cx="246888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Affiliate Marketing e Call Center têm o maior coeficiente marginal — mas escalas de saturação (gamma/kappa) diferem por canal, então não compare coeficientes como R$ diretamente.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comparar eficiência de investimento, use o CPA implícito (próximo slide) — essa é a métrica economicamente comparável.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VIF &lt; 2 na maioria dos canais: baixa multicolinearidade, coeficientes confiáveis.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Significância por canal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CPA implícito do modelo vs. CPA assumido no planejamento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realidade estatística (MMM) diverge do CPA-alvo usado hoje no orçamento — R$ por assinante atribuído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e E-commerce Site custam, na prática, mais do que o assumido no planejamento; Affiliate, Email e Call Center são mais baratos do que o CPA-alvo — sinal de orçamento mal calibrado entre canais.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Eficiência por canal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de campanha por segmento de cliente (2024)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'Monthly Campaign Video+' — ROI = (receita − investimento) / investimento, por segmento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</a:t>
            </a:r>
            <a:pPr algn="l" indent="0" marL="0">
              <a:buNone/>
            </a:pPr>
            <a:r>
              <a:rPr lang="en-US" sz="11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ROI ≥ 1x  ·  </a:t>
            </a:r>
            <a:pPr algn="l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Âmbar </a:t>
            </a:r>
            <a:pPr algn="l" indent="0" marL="0">
              <a:buNone/>
            </a:pPr>
            <a:r>
              <a:rPr lang="en-US" sz="11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ROI positivo abaixo de 1x  ·  </a:t>
            </a:r>
            <a:pPr algn="l" indent="0" marL="0">
              <a:buNone/>
            </a:pPr>
            <a:r>
              <a:rPr lang="en-US" sz="1150" b="1" dirty="0">
                <a:solidFill>
                  <a:srgbClr val="C2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</a:t>
            </a:r>
            <a:pPr algn="l" indent="0" marL="0">
              <a:buNone/>
            </a:pPr>
            <a:r>
              <a:rPr lang="en-US" sz="11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campanha destruindo valor (ROI negativo)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ROI por segmento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em números — o último ano completo na 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2023 · dados sintéticos calibrados nos CPAs-alvo do planejamento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2996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1.476.809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assinantes em 2024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+10,9% vs. 2023 (1.331.354)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2996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R$ 60,99 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37960" y="27889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total em mídia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R$ 56,70 M em 2023 (+7,6%)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6168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R$ 41,30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médio ponderado (blended)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4864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-3,0% vs. R$ 42,59 em 2023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416052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2A2A33"/>
          </a:solidFill>
          <a:ln w="12700">
            <a:solidFill>
              <a:srgbClr val="2A2A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36168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0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R$ 10,27 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537960" y="51206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da campanha 'Monthly Campaign Video+'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54864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somando os 7 segmentos ativos em 2024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Visão anual consolidada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 estratégicas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priorizadas a partir do CPA implícito do modelo e do ROI por segmento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36192" y="187452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Realocar verba para Affiliate, Call Center e Email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36192" y="251460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implícito 58–79% abaixo do assumido no plano — maior fronteira de eficiência disponível hoje sem novo investimento.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59752" y="187452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mix de Paid Search e E-commerce Site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59752" y="251460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real roda acima do CPA-alvo (Paid Search quase 2x); recalibrar lances/segmentação ou reduzir dependência.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36192" y="41148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foco em Famílias Tradicionais e Maratonistas de Séries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36192" y="47548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CLV, maior ROI de campanha (2,97x e 1,64x) e maior volume de assinantes atribuídos — prioridade de budget.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160520"/>
            <a:ext cx="502920" cy="502920"/>
          </a:xfrm>
          <a:prstGeom prst="ellipse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9752" y="41148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ou reestruturar campanhas para Amantes de Cinema e Amantes de Música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59752" y="475488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de campanha negativo (-0,41x e -0,10x): investimento atual não se paga nesses segmentos.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Recomendações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atuais e roteiro para o v3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 para um modelo de nível produção (nota de metodologia, item 5)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93976"/>
            <a:ext cx="420624" cy="420624"/>
          </a:xfrm>
          <a:prstGeom prst="ellipse">
            <a:avLst/>
          </a:prstGeom>
          <a:solidFill>
            <a:srgbClr val="1B1B22"/>
          </a:solidFill>
          <a:ln w="12700">
            <a:solidFill>
              <a:srgbClr val="1B1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93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os dados sintéticos por spend semanal real por canal — o maior gap hoje.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99816"/>
            <a:ext cx="420624" cy="420624"/>
          </a:xfrm>
          <a:prstGeom prst="ellipse">
            <a:avLst/>
          </a:prstGeom>
          <a:solidFill>
            <a:srgbClr val="1B1B22"/>
          </a:solidFill>
          <a:ln w="12700">
            <a:solidFill>
              <a:srgbClr val="1B1B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99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de OLS frequentista para um framework Bayesiano hierárquico (Robyn / PyMC-Marketing) com priors informativos.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0F0F3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105656"/>
            <a:ext cx="420624" cy="420624"/>
          </a:xfrm>
          <a:prstGeom prst="ellipse">
            <a:avLst/>
          </a:prstGeom>
          <a:solidFill>
            <a:srgbClr val="1B1B22"/>
          </a:solidFill>
          <a:ln w="12700">
            <a:solidFill>
              <a:srgbClr val="1B1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05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8862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externamente com testes de incrementalidade (geo-experiments) para ancorar coeficientes na realidade.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0F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111496"/>
            <a:ext cx="420624" cy="420624"/>
          </a:xfrm>
          <a:prstGeom prst="ellipse">
            <a:avLst/>
          </a:prstGeom>
          <a:solidFill>
            <a:srgbClr val="1B1B22"/>
          </a:solidFill>
          <a:ln w="12700">
            <a:solidFill>
              <a:srgbClr val="1B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1114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89204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Ortogonalizar a variável de tendência frente às demais (VIF de trend ainda em 6,38, acima do ideal).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Limitações e próximos passos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Dúvidas, dados reais de spend ou definição do escopo do v3 — Marketing Science está à disposição.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E400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Marketing Scientist · Video+ · Marketing Science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 · Marketing Science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2026-08-19T20:35:20Z</dcterms:created>
  <dcterms:modified xsi:type="dcterms:W3CDTF">2026-08-19T20:35:20Z</dcterms:modified>
</cp:coreProperties>
</file>